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322" r:id="rId3"/>
    <p:sldId id="323" r:id="rId4"/>
    <p:sldId id="411" r:id="rId5"/>
    <p:sldId id="418" r:id="rId6"/>
    <p:sldId id="412" r:id="rId7"/>
    <p:sldId id="419" r:id="rId8"/>
    <p:sldId id="413" r:id="rId9"/>
    <p:sldId id="420" r:id="rId10"/>
    <p:sldId id="414" r:id="rId11"/>
    <p:sldId id="415" r:id="rId12"/>
    <p:sldId id="475" r:id="rId13"/>
    <p:sldId id="422" r:id="rId14"/>
    <p:sldId id="423" r:id="rId15"/>
    <p:sldId id="416" r:id="rId16"/>
    <p:sldId id="421" r:id="rId17"/>
    <p:sldId id="424" r:id="rId18"/>
    <p:sldId id="451" r:id="rId19"/>
    <p:sldId id="452" r:id="rId20"/>
    <p:sldId id="425" r:id="rId21"/>
    <p:sldId id="426" r:id="rId22"/>
    <p:sldId id="417" r:id="rId23"/>
    <p:sldId id="468" r:id="rId24"/>
    <p:sldId id="427" r:id="rId25"/>
    <p:sldId id="428" r:id="rId26"/>
    <p:sldId id="429" r:id="rId27"/>
    <p:sldId id="430" r:id="rId28"/>
    <p:sldId id="435" r:id="rId29"/>
    <p:sldId id="436" r:id="rId30"/>
    <p:sldId id="431" r:id="rId31"/>
    <p:sldId id="433" r:id="rId32"/>
    <p:sldId id="434" r:id="rId33"/>
    <p:sldId id="469" r:id="rId34"/>
    <p:sldId id="437" r:id="rId35"/>
    <p:sldId id="449" r:id="rId36"/>
    <p:sldId id="438" r:id="rId37"/>
    <p:sldId id="439" r:id="rId38"/>
    <p:sldId id="441" r:id="rId39"/>
    <p:sldId id="442" r:id="rId40"/>
    <p:sldId id="448" r:id="rId41"/>
    <p:sldId id="443" r:id="rId42"/>
    <p:sldId id="444" r:id="rId43"/>
    <p:sldId id="445" r:id="rId44"/>
    <p:sldId id="446" r:id="rId45"/>
    <p:sldId id="447" r:id="rId46"/>
    <p:sldId id="440" r:id="rId47"/>
    <p:sldId id="450" r:id="rId48"/>
    <p:sldId id="453" r:id="rId49"/>
    <p:sldId id="465" r:id="rId50"/>
    <p:sldId id="454" r:id="rId51"/>
    <p:sldId id="467" r:id="rId52"/>
    <p:sldId id="455" r:id="rId53"/>
    <p:sldId id="473" r:id="rId54"/>
    <p:sldId id="456" r:id="rId55"/>
    <p:sldId id="457" r:id="rId56"/>
    <p:sldId id="458" r:id="rId57"/>
    <p:sldId id="459" r:id="rId58"/>
    <p:sldId id="460" r:id="rId59"/>
    <p:sldId id="461" r:id="rId60"/>
    <p:sldId id="462" r:id="rId61"/>
    <p:sldId id="463" r:id="rId62"/>
    <p:sldId id="464" r:id="rId63"/>
    <p:sldId id="470" r:id="rId64"/>
    <p:sldId id="472" r:id="rId65"/>
    <p:sldId id="474" r:id="rId6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323"/>
            <p14:sldId id="411"/>
            <p14:sldId id="418"/>
            <p14:sldId id="412"/>
            <p14:sldId id="419"/>
            <p14:sldId id="413"/>
            <p14:sldId id="420"/>
            <p14:sldId id="414"/>
            <p14:sldId id="415"/>
            <p14:sldId id="475"/>
            <p14:sldId id="422"/>
            <p14:sldId id="423"/>
            <p14:sldId id="416"/>
            <p14:sldId id="421"/>
            <p14:sldId id="424"/>
            <p14:sldId id="451"/>
            <p14:sldId id="452"/>
            <p14:sldId id="425"/>
            <p14:sldId id="426"/>
            <p14:sldId id="417"/>
            <p14:sldId id="468"/>
            <p14:sldId id="427"/>
            <p14:sldId id="428"/>
            <p14:sldId id="429"/>
            <p14:sldId id="430"/>
            <p14:sldId id="435"/>
            <p14:sldId id="436"/>
            <p14:sldId id="431"/>
            <p14:sldId id="433"/>
            <p14:sldId id="434"/>
            <p14:sldId id="469"/>
            <p14:sldId id="437"/>
            <p14:sldId id="449"/>
            <p14:sldId id="438"/>
            <p14:sldId id="439"/>
            <p14:sldId id="441"/>
            <p14:sldId id="442"/>
            <p14:sldId id="448"/>
            <p14:sldId id="443"/>
            <p14:sldId id="444"/>
            <p14:sldId id="445"/>
            <p14:sldId id="446"/>
            <p14:sldId id="447"/>
            <p14:sldId id="440"/>
            <p14:sldId id="450"/>
            <p14:sldId id="453"/>
            <p14:sldId id="465"/>
            <p14:sldId id="454"/>
            <p14:sldId id="467"/>
            <p14:sldId id="455"/>
            <p14:sldId id="473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70"/>
            <p14:sldId id="472"/>
            <p14:sldId id="4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ffchappell.com/studies/windows/km/ntoskrnl/inc/ntos/ps/ethread/index.htm?tx=160&amp;ts=0,413" TargetMode="External"/><Relationship Id="rId2" Type="http://schemas.openxmlformats.org/officeDocument/2006/relationships/hyperlink" Target="https://www.geoffchappell.com/studies/windows/km/ntoskrnl/inc/ntos/ke/kthread/index.htm?tx=160&amp;ts=0,41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cpp/c-runtime-library/reference/beginthread-beginthreadex?view=msvc-170" TargetMode="External"/><Relationship Id="rId2" Type="http://schemas.openxmlformats.org/officeDocument/2006/relationships/hyperlink" Target="https://learn.microsoft.com/en-us/windows/win32/api/processthreadsapi/nf-processthreadsapi-createthread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pubs.opengroup.org/onlinepubs/9799919799/functions/pthread_create.html" TargetMode="Externa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learn.microsoft.com/en-us/windows/win32/api/processthreadsapi/nf-processthreadsapi-terminatethread" TargetMode="External"/><Relationship Id="rId7" Type="http://schemas.openxmlformats.org/officeDocument/2006/relationships/image" Target="../media/image12.png"/><Relationship Id="rId2" Type="http://schemas.openxmlformats.org/officeDocument/2006/relationships/hyperlink" Target="https://learn.microsoft.com/en-us/windows/win32/api/processthreadsapi/nf-processthreadsapi-exitthrea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opengroup.org/onlinepubs/9799919799/functions/pthread_cancel.html" TargetMode="External"/><Relationship Id="rId11" Type="http://schemas.openxmlformats.org/officeDocument/2006/relationships/image" Target="../media/image16.png"/><Relationship Id="rId5" Type="http://schemas.openxmlformats.org/officeDocument/2006/relationships/hyperlink" Target="https://pubs.opengroup.org/onlinepubs/9799919799/functions/pthread_exit.html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learn.microsoft.com/en-us/cpp/c-runtime-library/reference/endthread-endthreadex?view=msvc-170" TargetMode="External"/><Relationship Id="rId9" Type="http://schemas.openxmlformats.org/officeDocument/2006/relationships/image" Target="../media/image1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hyperlink" Target="https://pubs.opengroup.org/onlinepubs/9799919799/functions/pthread_join.html" TargetMode="External"/><Relationship Id="rId13" Type="http://schemas.openxmlformats.org/officeDocument/2006/relationships/hyperlink" Target="https://pubs.opengroup.org/onlinepubs/9799919799/basedefs/pthread.h.html" TargetMode="External"/><Relationship Id="rId3" Type="http://schemas.openxmlformats.org/officeDocument/2006/relationships/hyperlink" Target="https://learn.microsoft.com/en-us/windows/win32/api/processthreadsapi/nf-processthreadsapi-resumethread" TargetMode="External"/><Relationship Id="rId7" Type="http://schemas.openxmlformats.org/officeDocument/2006/relationships/hyperlink" Target="https://learn.microsoft.com/en-us/windows/win32/api/processthreadsapi/nf-processthreadsapi-getcurrentthread" TargetMode="External"/><Relationship Id="rId12" Type="http://schemas.openxmlformats.org/officeDocument/2006/relationships/hyperlink" Target="https://learn.microsoft.com/en-us/windows/win32/procthread/process-and-thread-functions#thread-functions" TargetMode="External"/><Relationship Id="rId2" Type="http://schemas.openxmlformats.org/officeDocument/2006/relationships/hyperlink" Target="https://learn.microsoft.com/en-us/windows/win32/api/processthreadsapi/nf-processthreadsapi-suspendthrea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processthreadsapi/nf-processthreadsapi-getexitcodethread" TargetMode="External"/><Relationship Id="rId11" Type="http://schemas.openxmlformats.org/officeDocument/2006/relationships/hyperlink" Target="https://pubs.opengroup.org/onlinepubs/9799919799/functions/pthread_once.html" TargetMode="External"/><Relationship Id="rId5" Type="http://schemas.openxmlformats.org/officeDocument/2006/relationships/hyperlink" Target="https://learn.microsoft.com/en-us/windows/win32/api/synchapi/nf-synchapi-waitformultipleobjects" TargetMode="External"/><Relationship Id="rId10" Type="http://schemas.openxmlformats.org/officeDocument/2006/relationships/hyperlink" Target="https://pubs.opengroup.org/onlinepubs/9799919799/functions/pthread_self.html" TargetMode="External"/><Relationship Id="rId4" Type="http://schemas.openxmlformats.org/officeDocument/2006/relationships/hyperlink" Target="https://learn.microsoft.com/en-us/windows/win32/api/synchapi/nf-synchapi-waitforsingleobject" TargetMode="External"/><Relationship Id="rId9" Type="http://schemas.openxmlformats.org/officeDocument/2006/relationships/hyperlink" Target="https://pubs.opengroup.org/onlinepubs/9799919799/functions/pthread_detach.html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pthread_key_create.html" TargetMode="External"/><Relationship Id="rId7" Type="http://schemas.openxmlformats.org/officeDocument/2006/relationships/hyperlink" Target="https://learn.microsoft.com/en-us/windows/win32/api/processthreadsapi/nf-processthreadsapi-tlsfree" TargetMode="External"/><Relationship Id="rId2" Type="http://schemas.openxmlformats.org/officeDocument/2006/relationships/hyperlink" Target="https://learn.microsoft.com/en-us/windows/win32/api/processthreadsapi/nf-processthreadsapi-tlsallo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opengroup.org/onlinepubs/9799919799/functions/pthread_getspecific.html" TargetMode="External"/><Relationship Id="rId5" Type="http://schemas.openxmlformats.org/officeDocument/2006/relationships/hyperlink" Target="https://learn.microsoft.com/en-us/windows/win32/api/processthreadsapi/nf-processthreadsapi-tlsgetvalue" TargetMode="External"/><Relationship Id="rId4" Type="http://schemas.openxmlformats.org/officeDocument/2006/relationships/hyperlink" Target="https://learn.microsoft.com/en-us/windows/win32/api/processthreadsapi/nf-processthreadsapi-tlssetvalue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cpp/cpp/thread?view=msvc-170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cpp/cpp/thread?view=msvc-170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5013" y="3697763"/>
            <a:ext cx="4761974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потоками</a:t>
            </a:r>
          </a:p>
          <a:p>
            <a:endParaRPr lang="ru-RU" sz="2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253787" y="3051019"/>
            <a:ext cx="1684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5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Различия процессов и потоков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Устройство потоков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Пользовательские потоки и потоки ядра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Управление потоками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Управление потоками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 (POSIX)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До сих пор концепцию процесса мы характеризовали двумя свойствами: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Владение ресурсами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как уже говорилось ранее, процесс включает в себя все необходимые ресурсы необходимые для выполнения программы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Планирование/управление выполнением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процессы помогают в обеспечении мультизадачности путем чередования выполнения программы в рамках одного процесса с выполнением программ в сотнях других процессов, чем и занимается ОС выполняя планирование и диспетчеризацию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09789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05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различать две приведенные выше характеристики, единицу диспетчеризации обычно называют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потоком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thread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облегченным процессом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lightweight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process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а единицу владения ресурсами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process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заданием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task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расставить вещи по своим местам стоит сказать, что существуют два понятия: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потоки управления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потоки выполнения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что самое главное – данные понятие вот вообще не одно и тоже, запомните!!! – Почему? Давайте проясним!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712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Потоком управления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считают логическую последовательность выполнения команд программы. Заметим что речь идёт в отношении именно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программы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!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Т.е. поток управления не более чем просто порядок, в котором выполняются команды и он просто определяет маршрут выполнения программы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Поток выполнения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независимая последовательность инструкций в рамках процесса, которая отвечает за реальное исполнение кода программы. Здесь же отметим, что речь идёт в отношении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!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Потоки выполнения (далее просто потоки) и будут целью данной лекции!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2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Собственно, что же такое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поток выполнения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точки зрения ОС, а всё просто – это объект ядра операционной системы, которому выделяется процессорное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Данный объект также является наименьшей единицей работы с точки зрения ядра ОС (если быть точнее, планировщика ОС)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хотя данный объект выполняет какие-либо инструкции в рамках какого-либо процесса, сам поток и его процесс являются разными понятиями и должны рассматриваться по отдельности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Ещё раз! Процессы используются для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группировки ресурсов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единое образование, а потоки являются «сущностью»,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распределяемой для выполнения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центральном процессоре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320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Потоки добавляют к модели процесса возможность реализации нескольких в значительной степени независимых друг от друга выполняемых задач в единой среде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Наличие нескольких потоков, выполняемых «параллельно»* в рамках одного процесса, является аналогией наличия нескольких процессов, выполняемых «параллельно» на одном компьютере</a:t>
            </a: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В первом случае потоки используют единое адресное пространство и другие ресурсы. А в последнем случае процессы используют общую физическую память, диски, принтеры и другие ресурсы</a:t>
            </a:r>
          </a:p>
          <a:p>
            <a:pPr marL="0" indent="0">
              <a:buNone/>
            </a:pP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*Выше упомянутая параллельность весьма условна и не соблюдается во всех случаях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65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B20731-E03E-BC13-16BF-476C79AF8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6872" y="1522262"/>
            <a:ext cx="7338255" cy="5206890"/>
          </a:xfr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977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уже говорилось одним из названий потоков является «облегчённый процесс»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LWP)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Связано это с тем фактом, что потоки обладают некоторыми свойствами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Термин же «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многопоточность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 обозначает возможность системы поддерживать работу множества потоков в рамках одного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такой возможности нету, то система считается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однопоточной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этом, сами программы также классифицируются 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многопоточные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однопоточные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зависимости от количества потоков выполнения которые они используют в своей работе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54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так как по определению любая последовательность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выполнения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инструкций называется потоком, именно поэтому в многопоточной среде процесс определяется как структурная единица распределения ресурсов, а также структурная единица защиты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процессами связаны следующие элементы: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Виртуальное адресное пространство, в котором содержится образ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Защищенный доступ к процессорам, другим процессам (при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межпроцессном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обмене информацией), файлам и ресурсам ввода-вывода (устройствам и каналам)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090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рамках процесса могут находиться один или несколько потоков, каждый из которых обладает следующими характеристиками: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выполнения потока (выполняющийся, готовый к выполнению и т.д.)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Сохраненный контекст не выполняющегося потока; один из способов рассмотрения потока – считать его независимым счетчиком команд, работающим в рамках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Стек выполнения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Статическая память, выделяемая потоку для локальных переменных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Доступ к памяти и ресурсам процесса, которому этот поток принадлежит; этот доступ разделяется всеми потоками данного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131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аналогии с процессам и их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PCB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каждого потока имеется свой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TCB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Thread Control Block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TCB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структура данных ядра ОС которая содержит информацию специфичную для потоков которая необходима для управления потоком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TCB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сути является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«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манифестацией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потока в операционной системе»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Каждый поток имеет свой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TCB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Примером информации которая хранится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TCB: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TID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Указатель на стек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Программный счётчик (текущая инструкция этого потока)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потока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Регистры потока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Указатель на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PCB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751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однопоточной модели процесса (в которой не имеется концепции потока, отличной от концепции процесса) в его представление входят управляющий блок этого процесса и пользовательское адресное пространство, а также стеки ядра и пользователя, с помощью которых осуществляются вызовы процедур и возвраты из них при выполнении процесса. Пока процесс работает, он управляет регистрами процессора. Когда выполнение процесса прерывается, содержимое регистров процессора сохраняется в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многопоточной среде с каждым процессом тоже связаны единственный управляющий блок и адресное пространство, но теперь для каждого потока создаются свои отдельные стеки, а также свой управляющий блок, в котором содержатся значения регистров, приоритет и другая информация о состоянии потока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560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хотя потоки имеют свой набор ресурсов, все потоки процесса разделяют между собой состояние и ресурсы процесса. Они находятся в одном и том же адресном пространстве и имеют доступ к одним и тем же данным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один поток изменяет в памяти какие-то данные, то другие потоки во время своего доступа к этим данным имеют возможность отследить эти изменения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один поток открывает файл с правом чтения, другие потоки данного процесса тоже могут читать из этого файла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300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1F6605-0248-2A89-E223-8DEB4A400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2720" y="1449712"/>
            <a:ext cx="8706560" cy="5206100"/>
          </a:xfr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228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Отвлечёмся на минуточку и подумаем, а что же такого в потоках? Ведь раньше системы прекрасно работали и без них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Основные преимущества использования потоков с точки зрения производительности таковы: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создания нового потока в уже существующем процессе необходимо намного меньше времени, чем для создания нового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можно завершить намного быстрее, чем процесс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Переключение между потоками в рамках одного и того же процесса происходит намного быстрее переключения между процессами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использовании потоков повышается эффективность обмена информацией между двумя выполняющимися программами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50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большинстве операционных систем обмен между независимыми процессами происходит с участием ядра, в функции которого входит обеспечение защиты, и механизма, необходимого для осуществления обмена. Однако благодаря тому, что различные потоки одного и того же процесса используют одну и ту же область памяти и одни и те же файлы, они могут обмениваться информацией без участия ядра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363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как и у любого механизма ОС, у потоков есть и свои недостатки: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программировании приложения с множественными потоками необходимо постоянно думать о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потокобезопасности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(т. н.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thread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safety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Один неправильно работающий поток может повредить остальные, так как потоки делят общее адресное пространство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Потоки конкурируют друг с другом в адресном пространстве. Стек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thread-local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storage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занимая часть виртуального адресного пространства процесса, тем самым делают его недоступным для других потоков. Для встраиваемых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embedded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систем в условиях ограниченности ресурсов такое ограничение может иметь существенное значение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429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Потокобезопасная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функция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 которая может быть вызвана одновременно из нескольких потоков без риска возникновения ошибок или непредсказуемого поведения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общем случае функция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повторно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входимой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реентерабельной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если она удовлетворяет следующим требованиям: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 использует глобальные переменные, значения которых изменяются параллельно исполняемыми потоками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 использует статические переменные, определенные внутри функции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 возвращает указатель на статические данные, определенные внутри функции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385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лучше использовать поточную многозадачность: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Ограниченность системных ресурсов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Частое использование данных между подзадачами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Частая синхронизация подзадач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Поддержка языками и библиотеками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Задачи с упором на вычисления (так называемые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CPU-bound tasks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Написание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GUI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Задачи с требованием к масштабированию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9102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Примером приложения, в котором можно удачно применить потоки, является файловый сервер. При получении каждого нового файлового запроса программа управления файлами может порождать новый поток . Из-за того, что серверу приходится обрабатывать очень большое количество запросов, за короткий промежуток времени будет создаваться и удаляться множество потоков. Если такая серверная программа работает на многопроцессорной машине, то на разных процессорах в рамках одного процесса может одновременно выполняться несколько потоков. Кроме того, из-за того что процессы или потоки файлового сервера должны совместно использовать данные из файлов, а следовательно, координировать свои действия, рациональнее использовать потоки и общую область памяти, а не процессы и обмен сообщениями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891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3835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операционной системе, поддерживающей потоки, планирование и диспетчеризация осуществляются на основе потоков; таким образом, большая часть информации о состоянии процесса, имеющей отношение к его выполнению, поддерживается в структурах данных на уровне потоков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есть несколько действий, которые затрагивают все потоки процесса и которые операционная система должна поддерживать именно на этом уровне. Если процесс приостанавливается, то при этом предполагается, что его адресное пространство будет выгружено из основной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все потоки процесса используют одно и то же адресное пространство, все они должны одновременно перейти в состояние приостановленных. Соответственно, прекращение процесса приводит к прекращению всех составляющих его потоков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048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стоит вспомнить, что при диспетчеризации происходит такое явление как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переключение контекста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context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switch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в многозадачных ОС и средах – процесс прекращения выполнения процессором одной задачи (процесса, потока, нити) с сохранением всей необходимой информации и состояния, необходимых для последующего продолжения с прерванного места, и восстановления и загрузки состояния задачи, к выполнению которой переходит процессор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случае с потоками, они также как и процессы имеют свой собственный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контекст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и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652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Потоки, подобно процессам, характеризуются состояниями выполнения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Основными состояниями потоков, как и процессов, являются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выполнения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потока,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состояние готовности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блокировки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Вообще говоря,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приостановки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нет смысла связывать с потоками, потому что такие состояния логичнее рассматривать на уровне процессов</a:t>
            </a: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В частности, если процесс приостанавливается, обязательно приостанавливаются все его потоки, потому что все они совместно используют адресное пространство этого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59598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потоков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305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изменением состояния потоков связаны такие четыре основных действия: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Порождение.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Обычно одновременно с новым процессом создается его поток. Далее, в рамках одного и того же процесса один поток может породить другой поток, определив его указатель команд и аргументы. Новый поток создается со своим контекстом регистров и стековым пространством, после чего он помещается в очередь готовых к выполнению потоков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Блокирование.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потоку нужно подождать наступления некоторого события, он блокируется (при этом сохраняются содержимое его пользовательских регистров, счетчика команд, а также указатели стеков). После этого процессор может перейти к выполнению другого готового потока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потоков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157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изменением состояния потоков связаны такие четыре основных действия: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Разблокирование.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наступает событие, ожидание которого блокировало поток, последний переходит в состояние готовности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Завершение.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завершения потока его контекст регистров и стеки удаляются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Важно понимать что описанные состояния и действия являются базовыми и разработчики конкретных ОС могут их расширять по своему усмотрению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потоков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319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например, в ОС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Windows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диаграмма состояний потоков выглядит следующим образом</a:t>
            </a:r>
            <a:endParaRPr lang="ru-RU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3360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потоков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5DAC948-4BE3-D3F0-A393-DFE8E453D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2383304"/>
            <a:ext cx="7133223" cy="440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40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299301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Готовый к выполнению.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Поток, который может быть направлен на выполнение. Диспетчер ядра отслеживает все готовые к выполнению потоки и осуществляет их планирование в соответствии с приоритетом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Резервный.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Поток, который будет запущен следующим на данном процессоре. Поток находится в этом состоянии до тех пор, пока процессор не освободится. Если приоритет резервного потока достаточно высок, то он может вытеснить выполняющийся в данный момент поток. В противном случае резервный поток ждет, пока произойдет блокировка выполняющегося потока или пока истечет выделенный ему промежуток времени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Выполняющийся.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Как только диспетчер ядра выполнит переключение потоков, резервный поток перейдет в состояние выполнения и будет пребывать в нем до тех пор, пока не произойдет одно из следующих событий: поток будет вытеснен, закончится отведенный ему интервал времени, поток будет блокирован или завершен. В первых двух случаях поток снова переходит в состояние готовности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9937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потоков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428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Ожидающий.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входит в состояние ожидания, если 1) он блокирован каким-то событием (например, операцией ввода-вывода), 2) он добровольно ждет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синхронизации или 3) среда подсистемы предписывает потоку, чтобы он сам себя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приостановил. После того как условия ожидания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удовлетворены, поток переходит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состояние готовности, если все его ресурсы доступны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Переходный.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Поток переходит в это состояние, если он готов к выполнению, 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ресурсы недоступны (например, страницы стека потока могут быть сброшены на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диск). После того как необходимые ресурсы станут доступными, процесс перейдет в состояние готовности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Завершенный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Завершение потока может быть инициировано самим потоком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либо другим потоком или может произойти вместе с завершением родительского процесса. После завершения необходимых операций освобождения ресурсов 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тому подобного поток удаляется из системы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61384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потоков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287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в ОС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следующим образом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Заметили кое-что?</a:t>
            </a:r>
          </a:p>
          <a:p>
            <a:pPr marL="0" indent="0">
              <a:buNone/>
            </a:pPr>
            <a:endParaRPr lang="ru-RU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90895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потоков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6AF6929-354F-473D-39EF-BBAA7928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1" y="1494691"/>
            <a:ext cx="7201404" cy="531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80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Выполняющийся.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Это состояние отвечает на самом деле двум состояниям: текущий процесс либо выполняется, либо готов к выполнению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Прерываемый.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Это состояние блокировки, в котором процесс ожидает наступления события, например завершения операции ввода-вывода, освобождения ресурса или сигнала от другого процесса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Непрерываемый.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Это состояние блокировки другого рода. Его отличие от предыдущего состоит в том, что в непрерываемом состоянии процесс непосредственно ожидает выполнения какого-то аппаратного условия, поэтому он не воспринимает никаких сигналов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08563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потоков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7476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Остановленный.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был остановлен и может быть продолжен только при соответствующем воздействии другого процесса. Например, процесс, который находится в состоянии отладки, может перейти в состояние остановки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Зомби.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 был прекращен, но по какой-то причине его структура остается в таблице процессов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128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потоков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4425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потоки процесса используют одно и то же адресное пространство, как и другие ресурсы, например открытые файлы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Любое изменение какого-нибудь ресурса одним из потоков процесса оказывает влияние на другие потоки этого же процесса. Поэтому действия различных потоков необходимо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синхронизировать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чтобы они не мешали друг другу или чтобы не повредили структуры данных</a:t>
            </a: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если каждый из двух потоков будет пытаться добавить свой элемент в двунаправленный список, может быть потерян один из элементов (или нарушена целостность списка)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рассмотрении синхронизации потоков возникают те же вопросы и используются те же методы, что и при синхронизации процессов (узнаем об этом в будущей лекции)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58653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Синхронизация потоков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649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выделяют две общие категории потоков: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Пользовательские потоки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потоки на уровне пользователя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user-level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threads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ULT)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Потоки на уровне ядра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kemel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evel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threads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KLT)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Потоки второго типа в литературе иногда называются потоками, поддерживаемыми ядром или облегченными процессами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ightweight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processes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81206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Типы потоков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054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1F882A-37E3-98AC-B28A-DAC571806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201" y="1826844"/>
            <a:ext cx="11141597" cy="4345355"/>
          </a:xfr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Типы потоков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273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программе, полностью состоящей из ULТ-потоков, все действия по управлению потоками выполняются самим приложением; ядро, по сути, и не подозревает о существовании потоков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приложение было многопоточным, его следует создавать с применением специальной библиотеки, представляющей собой пакет программ для работы с потоками на уровне ядра. Такая библиотека для работы с потоками содержит код, с помощью которого можно создавать и удалять потоки, производить обмен сообщениями и данными между потоками, планировать их выполнение, а также сохранять и восстанавливать их контекст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35146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Пользовательские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215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описанные события происходят в пользовательском пространстве в рамках одного процесса. Ядро не подозревает об этой деятельности. Оно продолжает осуществлять планирование процесса как единого целого и приписывать ему единое состояние выполнения (состояние готовности, состояние выполняющегося процесса, состояние блокировки и т. д.)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Пользовательские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9123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Применение потоков на пользовательском уровне обладает некоторыми преимуществами перед применением потоков на уровне ядра. К этим преимуществам относятся следующие: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Переключение потоков не предусматривает переход в режим ядра, а значит избегаем накладных расходов на переключение между режимами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Планирование может выполняться с учетом специфики приложения. Алгоритм планирования может подбираться для конкретного приложения, причем это не повлияет на алгоритм планирования, заложенный в операционной системе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Использование потоков на пользовательском уровне может работать в любой операционной системе. Для их поддержки в ядро системы не потребуется вносить никаких изменений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Пользовательские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394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Применение потоков на пользовательском уровне обладает также двумя явными недостатками по сравнению с применением потоков на уровне ядра: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типичной операционной системе многие системные вызовы являются блокирующими. Когда в потоке, работающем на пользовательском уровне, выполняется системный вызов, блокируется не только данный поток, но и все потоки того процесса, к которому он относится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стратегии с наличием потоков только на пользовательском уровне приложение не может воспользоваться преимуществами многопроцессорной системы, так как ядро закрепляет за каждым процессом только один процессор. Поэтому несколько потоков одного и того же процесса не могут выполняться одновременно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Пользовательские потоки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715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1F882A-37E3-98AC-B28A-DAC571806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201" y="1826844"/>
            <a:ext cx="11141597" cy="4345355"/>
          </a:xfr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Типы потоков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63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программе, работа которой полностью основана на потоках, работающих на уровне ядра, все действия по управлению потоками выполняются ядром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области приложений отсутствует код, предназначенный для управления потоками. Вместо него используется интерфейс прикладного программирования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application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programming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interface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API) средств ядра, управляющих потоками</a:t>
            </a: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Примером такого подхода является операционная система Windows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94612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уровня ядра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956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Ядро поддерживает информацию контекста процесса как единого целого, а также контекстов каждого отдельного потока процесса Планирование выполняется ядром на основе потоков. С помощью такого подхода удается избавиться от двух упомянутых ранее основных недостатков потоков пользовательского уровня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Во-первых, ядро может одновременно осуществлять планирование работы нескольких потоков одного и того же процесса на нескольких процессорах.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Во-вторых, при блокировке одного из потоков процесса ядро может выбрать для выполнения другой поток этого же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Еще одним преимуществом такого подхода является то, что сами процедуры ядра могут быть многопоточными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уровня ядра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3051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Основным недостатком подхода с использованием потоков на уровне ядра по сравнению с использованием потоков на пользовательском уровне является то, что для передачи управления от одного потока другому в рамках одного и того же процесса приходится переключаться в режим ядра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Сравнение времени (в мс) выполнения операций на основе разных подходов: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уровня ядра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7947DF1-A396-73FF-631B-135A17672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78" y="4969859"/>
            <a:ext cx="7830643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42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Сравнивалось время выполнения таких двух задач, как нулевое ветвление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Null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Fоrk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)­ время, затраченное на создание, планирование и выполнение процесса/потока, состоящего только из пустой процедуры (измеряются только накладные расходы, связанные с ветвлением процесса/потока) и ожидание сигнала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Signal-Wait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время, затраченное на передачу сигнала от одного процесса/потока другому процессу/потоку, находящемуся в состоянии ожидания (накладные расходы на синхронизацию двух процессов/потоков)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уровня ядра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8171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создается впечатление, что как применение многопоточности на уровне ядра дает выигрыш по сравнению с процессами, так и многопоточность на пользовательском уровне дает выигрыш по сравнению с многопоточностью на уровне ядра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на деле возможность этого дополнительного выигрыша зависит от характера приложений. Если для большинства переключений потоков приложения необходим доступ к ядру, то схема с потоками на пользовательском уровне может работать не намного лучше, чем схема с потоками на уровне ядра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уровня ядра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4636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1F882A-37E3-98AC-B28A-DAC571806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201" y="1826844"/>
            <a:ext cx="11141597" cy="4345355"/>
          </a:xfr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20895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Типы потоков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38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некоторых операционных системах применяется комбинирование потоков обоих видов. В комбинированных системах создание потоков выполняется полностью в пользовательском пространстве, там же, где и код планирования и синхронизации потоков в приложениях. Несколько потоков на пользовательском уровне, входящих в состав приложения, отображаются в такое же или меньшее число потоков на уровне ядра. Программист может изменять число потоков на уровне ядра, подбирая его таким, чтобы оно позволило достичь наилучших результатов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комбинированном подходе несколько потоков одного и того же приложения могут выполняться одновременно на нескольких процессорах, а блокирующие системные вызовы не приводят к блокировке всего процесса. При надлежащей реализации такой подход будет сочетать в себе преимущества подходов, в которых применяются только потоки на пользовательском уровне или только потоки на уровне ядра, сводя недостатки каждого из этих подходов к минимуму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64692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Комбинированный подход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5079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как и процессы, потоки являются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объектами ядра и представлены структурами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KTHREAD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ETHREAD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ядерный и пользовательский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TCB):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83510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AE39507-EABF-A21A-A7CB-CC59E5173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816352"/>
            <a:ext cx="4916730" cy="397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96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3AB7DCF-EE82-9258-62E6-41624D452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230" y="1685028"/>
            <a:ext cx="9421540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88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говорить о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Linux,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 тут возникает особая ситуация. Как вы могли заметить по диаграмме состояний – она идентична состояниям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Всё дело в том, что Linux предоставляет уникальное решение, состоящее в том, что оно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 признает различие между потоками и процессами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Пользовательские потоки отображаются на процессы уровня ядра. Несколько потоков пользовательского уровня, которые составляют  единый процесс уровня пользователя, отображаются на процессы уровня ядра Linux, которые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разделяют один и тот же идентификатор группы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позволяет данным процессам совместно использовать ресурсы, такие как файлы и память, и избегать необходимости переключения контекста, когда планировщик выполняет переключение между процессами в одной и той же группе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1312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79644B3-1AD0-780D-9600-BC4B1CC42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1" y="2047268"/>
            <a:ext cx="10696058" cy="36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714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Linux новый процесс создается путем копирования атрибутов текущего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Можно клонировать новый процесс так, что он будет разделять такие ресурсы, как файлы, обработчики сигналов и виртуальная память. Когда два процесса разделяют одну и ту же виртуальную память, они функционируют как потоки в пределах одного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для потока не определяется отдельный тип структуры данных. Вместо обычного системного вызова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fork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процессы создаются в Linux с помощью вызова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clone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Эта команда включает в себя в качестве аргументов набор флагов. Традиционный системный вызов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fork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реализуется в Linux как системный вызов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clone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со сброшенными флагами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0920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ядро Linux выполняет переключение контекста от одного процесса к другому, оно проверяет, является ли адрес каталога страниц текущего процесса тем же, что и у планируемого процесса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да, то они разделяют одно адресное пространство, так что переключение контекста в основном состоит просто в переходе из одного места в коде в другое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Хотя клонированные процессы, которые являются частью одной и той же группы процессов, могут разделить одно и то же пространство памяти, они не могут использовать одни и те же пользовательские стеки. Таким образом, вызов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clone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создает отдельный стек для </a:t>
            </a:r>
            <a:r>
              <a:rPr lang="ru-RU">
                <a:latin typeface="Cambria" panose="02040503050406030204" pitchFamily="18" charset="0"/>
                <a:ea typeface="Cambria" panose="02040503050406030204" pitchFamily="18" charset="0"/>
              </a:rPr>
              <a:t>каждого процесса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7900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Создание потока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(Windows)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CreateThread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>
                <a:solidFill>
                  <a:srgbClr val="0563C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beginthreadex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Создание потока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(POSIX)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pthread_create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Примечание: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beginthreadex</a:t>
            </a:r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не является частью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WinAPI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Рисунок 8">
            <a:extLst>
              <a:ext uri="{FF2B5EF4-FFF2-40B4-BE49-F238E27FC236}">
                <a16:creationId xmlns:a16="http://schemas.microsoft.com/office/drawing/2014/main" id="{012D206A-E8DF-4876-F192-F1F7AB79E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380" y="2966966"/>
            <a:ext cx="6210300" cy="1914525"/>
          </a:xfrm>
          <a:prstGeom prst="rect">
            <a:avLst/>
          </a:prstGeom>
        </p:spPr>
      </p:pic>
      <p:pic>
        <p:nvPicPr>
          <p:cNvPr id="4" name="Рисунок 10">
            <a:extLst>
              <a:ext uri="{FF2B5EF4-FFF2-40B4-BE49-F238E27FC236}">
                <a16:creationId xmlns:a16="http://schemas.microsoft.com/office/drawing/2014/main" id="{A3DDE9F4-96D5-7369-F86D-F4857CB639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8974" y="4445351"/>
            <a:ext cx="6359868" cy="12507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500487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Завершение потока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(Windows)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ExitThread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TerminateThread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solidFill>
                  <a:srgbClr val="0563C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endthreadex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Завершение потока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(POSIX)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pthread_exit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pthread_cancel</a:t>
            </a:r>
            <a:endParaRPr lang="LID4096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Рисунок 15">
            <a:extLst>
              <a:ext uri="{FF2B5EF4-FFF2-40B4-BE49-F238E27FC236}">
                <a16:creationId xmlns:a16="http://schemas.microsoft.com/office/drawing/2014/main" id="{5F7F2068-217A-6F7A-4FD0-6A1DDD43C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99" y="3432607"/>
            <a:ext cx="2951932" cy="1117265"/>
          </a:xfrm>
          <a:prstGeom prst="rect">
            <a:avLst/>
          </a:prstGeom>
        </p:spPr>
      </p:pic>
      <p:pic>
        <p:nvPicPr>
          <p:cNvPr id="7" name="Рисунок 19">
            <a:extLst>
              <a:ext uri="{FF2B5EF4-FFF2-40B4-BE49-F238E27FC236}">
                <a16:creationId xmlns:a16="http://schemas.microsoft.com/office/drawing/2014/main" id="{B0847D1E-E043-51C0-5274-B184855B4B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5549" y="4988322"/>
            <a:ext cx="3095625" cy="1333500"/>
          </a:xfrm>
          <a:prstGeom prst="rect">
            <a:avLst/>
          </a:prstGeom>
        </p:spPr>
      </p:pic>
      <p:pic>
        <p:nvPicPr>
          <p:cNvPr id="8" name="Рисунок 17">
            <a:extLst>
              <a:ext uri="{FF2B5EF4-FFF2-40B4-BE49-F238E27FC236}">
                <a16:creationId xmlns:a16="http://schemas.microsoft.com/office/drawing/2014/main" id="{76D55396-2490-6279-730F-F7EB0732F0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7220" y="3448844"/>
            <a:ext cx="2543175" cy="1104900"/>
          </a:xfrm>
          <a:prstGeom prst="rect">
            <a:avLst/>
          </a:prstGeom>
        </p:spPr>
      </p:pic>
      <p:pic>
        <p:nvPicPr>
          <p:cNvPr id="9" name="Рисунок 21">
            <a:extLst>
              <a:ext uri="{FF2B5EF4-FFF2-40B4-BE49-F238E27FC236}">
                <a16:creationId xmlns:a16="http://schemas.microsoft.com/office/drawing/2014/main" id="{D31CA573-BC3C-B4C1-72A7-60CEB31625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3911" y="5232573"/>
            <a:ext cx="4977151" cy="774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Рисунок 23">
            <a:extLst>
              <a:ext uri="{FF2B5EF4-FFF2-40B4-BE49-F238E27FC236}">
                <a16:creationId xmlns:a16="http://schemas.microsoft.com/office/drawing/2014/main" id="{2D651D4E-CA51-11CB-BE2A-3645DB5423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7484" y="3735871"/>
            <a:ext cx="3714750" cy="771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929388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Завершение потока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(Windows):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потока возвращает управление (рекомендуемый способ);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самоуничтожается вызовом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ExitThread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(нежелательный способ);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один из потоков данного или стороннего процесса вызывает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TerminateThread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(нежелательный способ);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завершается процесс, содержащий данный поток (тоже нежелательно)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9220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Завершение потока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(POSIX):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Начальная функция выполняет инструкцию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указывая возвращаемое значение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потока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вызывает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pthread_exit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отменяется с помощью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pthread_cancel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Любой из потоков вызывает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exit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главный поток выполняет инструкцию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(внутри функции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main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что приводит к немедленному завершению всех потоков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процессе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7551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Управление потоком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(Windows)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SuspendThread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ResumeThread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WaitForSingleObject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WaitForMultipleObjects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GetExitCodeThread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GetCurrentThread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Управление потоком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(POSIX)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pthread_join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pthread_detach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pthread_self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pthread_once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Полное описание функций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WinAPI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POSIX</a:t>
            </a:r>
            <a:endParaRPr lang="LID4096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LID4096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Потоки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5492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Thread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Local Storage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механизм, который позволяет каждому потоку хранить свои собственные данные в отдельном пространстве, которое не доступно другим потокам. Это позволяет каждому потоку иметь свои собственные значения переменных, которые не будут перезаписаны другими потоками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Задействование данных, относящихся к отдельному потоку, позволяет сделать функцию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потокобезопасной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не изменяя при этом ее интерфейс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LID4096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04216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Thread Local Storage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466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Thread Local Storage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graphicFrame>
        <p:nvGraphicFramePr>
          <p:cNvPr id="5" name="Таблица 6">
            <a:extLst>
              <a:ext uri="{FF2B5EF4-FFF2-40B4-BE49-F238E27FC236}">
                <a16:creationId xmlns:a16="http://schemas.microsoft.com/office/drawing/2014/main" id="{999546F6-0B88-117B-6EDC-EF43420A3D48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719848"/>
          <a:ext cx="10210800" cy="345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6668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POSIX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92921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TlsAlloc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pthread_key_create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9292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TlsSetValue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TlsGetValue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pthread_getspecific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pthread_setspecific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92921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TlsFree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Второй параметр функции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pthread_key_create 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567A4F-FEFC-FED7-CCE0-BB00C5505029}"/>
              </a:ext>
            </a:extLst>
          </p:cNvPr>
          <p:cNvSpPr txBox="1"/>
          <p:nvPr/>
        </p:nvSpPr>
        <p:spPr>
          <a:xfrm>
            <a:off x="1143000" y="1682309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Cambria" panose="02040503050406030204" pitchFamily="18" charset="0"/>
                <a:ea typeface="Cambria" panose="02040503050406030204" pitchFamily="18" charset="0"/>
              </a:rPr>
              <a:t>Thread Local Storage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API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5585221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991832"/>
              </p:ext>
            </p:extLst>
          </p:nvPr>
        </p:nvGraphicFramePr>
        <p:xfrm>
          <a:off x="879348" y="365126"/>
          <a:ext cx="3891741" cy="1341120"/>
        </p:xfrm>
        <a:graphic>
          <a:graphicData uri="http://schemas.openxmlformats.org/drawingml/2006/table">
            <a:tbl>
              <a:tblPr/>
              <a:tblGrid>
                <a:gridCol w="3891741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Thread Local Storage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5" name="Объект 11">
            <a:extLst>
              <a:ext uri="{FF2B5EF4-FFF2-40B4-BE49-F238E27FC236}">
                <a16:creationId xmlns:a16="http://schemas.microsoft.com/office/drawing/2014/main" id="{416BE429-505B-DF1A-B97D-B497CE7FD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6628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Структура данных, которая используется для реализации указателей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данные уровня потока (ДУП)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3">
            <a:extLst>
              <a:ext uri="{FF2B5EF4-FFF2-40B4-BE49-F238E27FC236}">
                <a16:creationId xmlns:a16="http://schemas.microsoft.com/office/drawing/2014/main" id="{C72C5692-611A-2589-4671-3CB370A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89" y="0"/>
            <a:ext cx="74209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900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Существует также более простой достижения аналогичных результатов без использования специального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сделать глобальную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статическую переменную локальной для каждого потока, нужно просто указать при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ее объявлении спецификатор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__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thread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(POSIX)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__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declspec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(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thread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) (Windows)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Thread Local Storage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7085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Существует также более простой достижения аналогичных результатов без использования специального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сделать глобальную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статическую переменную локальной для каждого потока, нужно просто указать при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ее объявлении спецификатор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__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thread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(POSIX)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__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declspec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(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thread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) (Windows)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Thread Local Storage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4800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Стоит упомянуть, что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существует такое понятие как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Волокна 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Fibers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Fibers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легковесные единицы выполнения с кооперативной многозадачностью, которые требуют ручного переключения контекста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Они предназначены для ещё большего контроля выполнения вашего пользовательского кода. Волокна создаются в рамках какого-либо потока и по сути вы берёте на себя обязательство по управлению ими в таком же смысле, как ОС управляет выполнением потоков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Волокна могут выполняться только пока выполняется владеющий ими поток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Fibers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5241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5013" y="3697763"/>
            <a:ext cx="4761974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потоками</a:t>
            </a:r>
          </a:p>
          <a:p>
            <a:endParaRPr lang="ru-RU" sz="2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253787" y="3051019"/>
            <a:ext cx="1684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5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392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16862</TotalTime>
  <Words>4221</Words>
  <Application>Microsoft Office PowerPoint</Application>
  <PresentationFormat>Widescreen</PresentationFormat>
  <Paragraphs>271</Paragraphs>
  <Slides>65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302</cp:revision>
  <dcterms:created xsi:type="dcterms:W3CDTF">2024-09-04T11:03:42Z</dcterms:created>
  <dcterms:modified xsi:type="dcterms:W3CDTF">2025-11-11T07:37:28Z</dcterms:modified>
</cp:coreProperties>
</file>